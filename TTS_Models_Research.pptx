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</a:defRPr>
            </a:pPr>
            <a:r>
              <a:t>6 On-Device TTS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You Can Run Right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8"/>
                </a:solidFill>
              </a:defRPr>
            </a:pPr>
            <a:r>
              <a:t>Research Report: Architecture, Voice Cloning, Benchmarks, Advantages &amp; Disadvantages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389120"/>
            <a:ext cx="2651760" cy="5029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4434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Pocket TTS  -  Kyutai Labs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4389120"/>
            <a:ext cx="2651760" cy="5029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4434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VibeVoice  -  Microsoft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389120"/>
            <a:ext cx="2651760" cy="5029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4434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Kitten TTS  -  KittenML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029200"/>
            <a:ext cx="2651760" cy="5029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5074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Qwen3-TTS  -  Alibaba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5029200"/>
            <a:ext cx="2651760" cy="5029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5074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TADA TTS  -  Hume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029200"/>
            <a:ext cx="2651760" cy="5029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5074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</a:defRPr>
            </a:pPr>
            <a:r>
              <a:t>Neu TTS  -  Neuphonic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</a:defRPr>
            </a:pPr>
            <a:r>
              <a:t>All models run on CPU  |  No GPU required  |  Open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Quick Comparison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1600200" cy="4114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097280"/>
            <a:ext cx="1051560" cy="4114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11430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097280"/>
            <a:ext cx="1325880" cy="4114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1430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Languages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97280"/>
            <a:ext cx="1600200" cy="4114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1430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Voice Clone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1325880" cy="4114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1430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License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097280"/>
            <a:ext cx="2514600" cy="4114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11430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Best For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554480"/>
            <a:ext cx="160020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002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Pocket TTS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1554480"/>
            <a:ext cx="105156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16002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~100M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1554480"/>
            <a:ext cx="132588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16002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2 (EN, FR)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1554480"/>
            <a:ext cx="160020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16002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</a:defRPr>
            </a:pPr>
            <a:r>
              <a:t>Yes (zero-shot)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554480"/>
            <a:ext cx="132588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6002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Apache 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554480"/>
            <a:ext cx="251460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1600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Mobile/edge + cloning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1965960"/>
            <a:ext cx="160020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011679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VibeVoice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1965960"/>
            <a:ext cx="105156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2011679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0.5B-1.5B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1965960"/>
            <a:ext cx="132588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20116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11+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1965960"/>
            <a:ext cx="160020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2011679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Limited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1965960"/>
            <a:ext cx="132588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0116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MIT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1965960"/>
            <a:ext cx="251460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201167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Long-form multi-speaker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2377440"/>
            <a:ext cx="160020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2423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Kitten TTS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0" y="2377440"/>
            <a:ext cx="105156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31720" y="24231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15M-80M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3280" y="2377440"/>
            <a:ext cx="132588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9000" y="24231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1 (EN)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54880" y="2377440"/>
            <a:ext cx="160020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0600" y="24231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2377440"/>
            <a:ext cx="132588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242316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Apache 2.0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0" y="2377440"/>
            <a:ext cx="251460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18120" y="24231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Extreme size constraints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2788920"/>
            <a:ext cx="160020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2834639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Qwen3-TTS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86000" y="2788920"/>
            <a:ext cx="105156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31720" y="2834639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0.6B-1.7B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83280" y="2788920"/>
            <a:ext cx="132588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29000" y="28346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10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54880" y="2788920"/>
            <a:ext cx="160020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00600" y="2834639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</a:defRPr>
            </a:pPr>
            <a:r>
              <a:t>Yes (3s)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2788920"/>
            <a:ext cx="132588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283463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Apache 2.0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0" y="2788920"/>
            <a:ext cx="251460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18120" y="283463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Multilingual quality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" y="3200400"/>
            <a:ext cx="160020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32461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TADA TTS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286000" y="3200400"/>
            <a:ext cx="105156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31720" y="32461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1B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83280" y="3200400"/>
            <a:ext cx="132588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29000" y="32461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9+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754880" y="3200400"/>
            <a:ext cx="160020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00600" y="32461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</a:defRPr>
            </a:pPr>
            <a:r>
              <a:t>Yes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0" y="3200400"/>
            <a:ext cx="132588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46520" y="32461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MIT + Llama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72400" y="3200400"/>
            <a:ext cx="2514600" cy="3657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18120" y="32461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Hallucination-free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3611880"/>
            <a:ext cx="160020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" y="36576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Neu TTS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286000" y="3611880"/>
            <a:ext cx="105156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31720" y="36576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748M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383280" y="3611880"/>
            <a:ext cx="132588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29000" y="3657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54880" y="3611880"/>
            <a:ext cx="160020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00600" y="36576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</a:defRPr>
            </a:pPr>
            <a:r>
              <a:t>Yes (3s)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00800" y="3611880"/>
            <a:ext cx="132588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6520" y="3657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Apache 2.0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772400" y="3611880"/>
            <a:ext cx="2514600" cy="365760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18120" y="36576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Real-time voice agents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</a:defRPr>
            </a:pPr>
            <a:r>
              <a:t>All 6 models can run without GPU - designed for on-device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1. Pocket TTS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</a:defRPr>
            </a:pPr>
            <a:r>
              <a:t>Kyutai Labs  |  ~100M params  |  Apache 2.0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92608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CPU-only, no GPU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~6x faster than realtime (M4)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~200ms first audio chunk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Zero-shot voice cloning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8 built-in voices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English + French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Streaming (infinite 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227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CLI + Web UI included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Advantages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Runs on CPU - zero API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Voice cloning from short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Export voice as .safetensors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pip install pocket-tts (easy)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WASM, MLX, Rust, C# 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40480"/>
            <a:ext cx="3657600" cy="18288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Disadvantages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343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Only 2 languages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36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No speed control parameter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9286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Cloning needs HuggingFace login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2212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Smaller community vs Coqui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371600"/>
            <a:ext cx="3657600" cy="32004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</a:defRPr>
            </a:pPr>
            <a:r>
              <a:t>Code 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pip install pocket-tts scipy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from pocket_tts import TTSModel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model = TTSModel.load_model()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voice = model.get_state_for_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    audio_prompt("alba")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audio = model.generate_audio(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9227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    voice, "Hello world!")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2. VibeVoice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</a:defRPr>
            </a:pPr>
            <a:r>
              <a:t>Microsoft  |  0.5B-1.5B params  |  MIT License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92608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Next-token diffusion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7.5 Hz ultra-low frame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~300ms first audio (Realtime)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Up to 90 min in single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Multi-speaker (up to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11+ languages (experimental)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Qwen2.5 backbone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227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3 model variants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Advantages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90-min long-form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Multi-speaker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MIT License - very permissive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0.5B Realtime is lightweight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Gradio web UI included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40480"/>
            <a:ext cx="3657600" cy="18288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Disadvantages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343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Requires NVIDIA GPU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36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Not for commercial use yet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9286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TTS code removed Sept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2212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Limited voice cloning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371600"/>
            <a:ext cx="3657600" cy="25603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Third-Party APIs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fal.ai: $0.04/min (cheapest)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Replicate: $0.11/run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AIML API: available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vibevoice.online: free 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Self-host: free (MIT license)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3. Kitten TTS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</a:defRPr>
            </a:pPr>
            <a:r>
              <a:t>KittenML  |  15M-80M params  |  Apache 2.0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92608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Ultra-tiny: 25MB (nano int8)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ONNX-based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4 model tiers (mini/micro/nano)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8 built-in voices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Speed control parameter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24kHz audio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English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227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Runs on Raspberry 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Advantages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Smallest TTS model (25MB!)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Runs on wearables, browsers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Multiple size/quality tiers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Adjustable speech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Zero GPU dependency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40480"/>
            <a:ext cx="3657600" cy="18288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Disadvantages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343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No voice cloning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36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English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9286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Requires eSpeak-NG install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2212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Developer preview - may change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371600"/>
            <a:ext cx="36576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</a:defRPr>
            </a:pPr>
            <a:r>
              <a:t>Model Sizes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Mini:     80M params / 80MB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Micro:    40M params / 41MB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Nano FP32: 15M params / 56MB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Nano int8: 15M params / 25MB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Voices: expr-voice-2 to 5 (m/f)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4. Qwen3-TTS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</a:defRPr>
            </a:pPr>
            <a:r>
              <a:t>Alibaba Group  |  0.6B-1.7B params  |  Apache 2.0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92608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Trained on 5M hours of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10 languages in single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3-second voice cloning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Dual-track LM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Streaming + batch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9 premium built-in voices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Voice design from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227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Qwen3 LLM backbone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Advantages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Massive training scale (5M hrs)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10-language multilingual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Choose latency vs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Voice design + cloning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Strong Qwen3 ecosystem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40480"/>
            <a:ext cx="3657600" cy="18288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Disadvantages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343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Requires GPU (~8GB VRAM)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36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Streaming mode quality drops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9286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Self-reported benchmarks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2212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Missing Hindi, Thai, etc.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371600"/>
            <a:ext cx="3657600" cy="25603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Third-Party APIs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AIML API: $0.013/1K chars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    (cheapest option!)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fal.ai: $0.07/1K chars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Replicate: available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Alibaba Cloud: native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Self-host: free (Apache 2.0)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5. TADA TTS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</a:defRPr>
            </a:pPr>
            <a:r>
              <a:t>Hume AI  |  1B-3B params  |  MIT + Llama License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92608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ZERO content hallucinations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1:1 text-audio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5x faster than LLM-based TTS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700 seconds in one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Built on Llama 3.2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Prompt caching for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9+ languages supported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227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Alignment verification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Advantages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Zero hallucinations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Ideal for audiobooks/podcasts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5x speed over autoregressive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Prompt caching (encode once)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Open weights (MIT license)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40480"/>
            <a:ext cx="3657600" cy="18288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Disadvantages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343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Requires GPU (CUDA)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36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Strict alignment limits prosody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9286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Primarily English at 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2212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Newer - fewer integrations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371600"/>
            <a:ext cx="3657600" cy="25603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Hume AI Cloud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Free:    10K chars/mo ($0)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Starter: 30K chars/mo ($3)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Creator: 140K chars/mo ($7)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Pro:     1M chars/mo ($70)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Scale:   3.3M chars/mo ($200)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Voice design via text prompt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6. Neu TTS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</a:defRPr>
            </a:pPr>
            <a:r>
              <a:t>Neuphonic  |  748M params  |  Apache 2.0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92608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Sub-25ms cloud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Qwen2 backbone + NeuCodec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GGUF quantization (CPU-first)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3-second voice cloning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Built-in audio watermarking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22 English voices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4 languages (EN/FR/DE/ES)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227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Streaming-native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Advantages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On-device: laptop/phone/RPi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Cloud API: sub-25ms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Full training pipeline 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Audio watermarking built-in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22 English voices + cloning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40480"/>
            <a:ext cx="3657600" cy="18288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Disadvantages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343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ELO 949 (below top-tier cloud)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36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Primarily English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9286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748M still sizeable for 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2212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Cloud: $17.60/1M chars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371600"/>
            <a:ext cx="3657600" cy="256032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Cloud API Pricing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$17.60 per 1M characters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app.neuphonic.com (sign up)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pip install pyneuphonic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On-device: FREE (Apache 2.0)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Air (360M) + Nano (120M)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Bonus: VoxCPM2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</a:defRPr>
            </a:pPr>
            <a:r>
              <a:t>OpenBMB  |  2B params  |  Apache 2.0  |  Released Apr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92608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30 languages supported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48kHz studio-quality audio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Voice design from text desc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3 cloning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Tokenizer-free diffusion 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2M+ hours training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Beats ElevenLabs similarity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227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pip install voxcpm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Advantages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30 langs (incl Hindi!)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48kHz studio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85.4% voice similarity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3 cloning modes + voice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Apache 2.0 commercial 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840480"/>
            <a:ext cx="3657600" cy="18288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Disadvantages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343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Requires GPU (~8GB VRAM)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636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No third-party API yet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9286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Very new (Apr 2026)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2212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Self-host only for now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371600"/>
            <a:ext cx="36576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</a:defRPr>
            </a:pPr>
            <a:r>
              <a:t>3 Cloning Modes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1. Controllable Clone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1671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   ref audio only - good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2. Ultimate Clone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752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   ref audio + transcript - best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44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3. Voice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   text description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Cloud API Pricing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2240280" cy="4114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11430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097280"/>
            <a:ext cx="1325880" cy="4114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0" y="11430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097280"/>
            <a:ext cx="1600200" cy="4114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11430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097280"/>
            <a:ext cx="2240280" cy="4114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1430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~30-min Interview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097280"/>
            <a:ext cx="1325880" cy="4114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1430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Voice Clone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1554480"/>
            <a:ext cx="22402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59105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Pocket TTS (local)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554480"/>
            <a:ext cx="13258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591056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</a:defRPr>
            </a:pPr>
            <a:r>
              <a:t>FREE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554480"/>
            <a:ext cx="160020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59105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---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1554480"/>
            <a:ext cx="22402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159105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</a:defRPr>
            </a:pPr>
            <a:r>
              <a:t>$0.00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554480"/>
            <a:ext cx="13258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591056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</a:defRPr>
            </a:pPr>
            <a:r>
              <a:t>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1938528"/>
            <a:ext cx="22402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19751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Qwen3-TTS (AIML API)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1938528"/>
            <a:ext cx="13258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1975104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$0.013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1938528"/>
            <a:ext cx="160020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197510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per 1K chars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1938528"/>
            <a:ext cx="22402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197510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~$0.05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1938528"/>
            <a:ext cx="13258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975104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</a:defRPr>
            </a:pPr>
            <a:r>
              <a:t>Yes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2322576"/>
            <a:ext cx="22402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7320" y="235915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AWS Polly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2322576"/>
            <a:ext cx="13258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23591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$16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0" y="2322576"/>
            <a:ext cx="160020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23591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per 1M chars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2322576"/>
            <a:ext cx="22402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235915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~$0.02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2322576"/>
            <a:ext cx="13258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23591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71600" y="2706624"/>
            <a:ext cx="22402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7320" y="27432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VibeVoice (fal.ai)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0" y="2706624"/>
            <a:ext cx="13258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03320" y="27432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$0.04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0" y="2706624"/>
            <a:ext cx="160020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74920" y="27432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per minute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2706624"/>
            <a:ext cx="22402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0840" y="27432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~$1.20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61120" y="2706624"/>
            <a:ext cx="13258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27432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</a:defRPr>
            </a:pPr>
            <a:r>
              <a:t>Limited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71600" y="3090672"/>
            <a:ext cx="22402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17320" y="312724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Hume AI (TADA)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0" y="3090672"/>
            <a:ext cx="13258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03320" y="31272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$0-70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0" y="3090672"/>
            <a:ext cx="160020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312724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per month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75120" y="3090672"/>
            <a:ext cx="22402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20840" y="312724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~$0.03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61120" y="3090672"/>
            <a:ext cx="13258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06840" y="31272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</a:defRPr>
            </a:pPr>
            <a:r>
              <a:t>Yes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371600" y="3474720"/>
            <a:ext cx="22402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17320" y="351129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Neuphonic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0" y="3474720"/>
            <a:ext cx="13258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03320" y="3511296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$17.60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0" y="3474720"/>
            <a:ext cx="160020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74920" y="351129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per 1M chars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75120" y="3474720"/>
            <a:ext cx="22402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20840" y="351129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~$0.02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61120" y="3474720"/>
            <a:ext cx="13258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06840" y="3511296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</a:defRPr>
            </a:pPr>
            <a:r>
              <a:t>Yes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371600" y="3858768"/>
            <a:ext cx="22402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417320" y="389534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ElevenLabs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657600" y="3858768"/>
            <a:ext cx="13258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03320" y="3895344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$0.234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0" y="3858768"/>
            <a:ext cx="160020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74920" y="389534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per 1K chars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675120" y="3858768"/>
            <a:ext cx="22402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20840" y="389534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~$0.94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61120" y="3858768"/>
            <a:ext cx="1325880" cy="338328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006840" y="3895344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</a:defRPr>
            </a:pPr>
            <a:r>
              <a:t>Yes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371600" y="4242816"/>
            <a:ext cx="22402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417320" y="42793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OpenAI TTS-1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657600" y="4242816"/>
            <a:ext cx="13258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703320" y="42793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$0.02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029200" y="4242816"/>
            <a:ext cx="160020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74920" y="427939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per 1K chars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675120" y="4242816"/>
            <a:ext cx="22402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20840" y="42793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</a:defRPr>
            </a:pPr>
            <a:r>
              <a:t>~$0.08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961120" y="4242816"/>
            <a:ext cx="1325880" cy="338328"/>
          </a:xfrm>
          <a:prstGeom prst="roundRect">
            <a:avLst/>
          </a:prstGeom>
          <a:solidFill>
            <a:srgbClr val="2D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006840" y="427939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F4444"/>
                </a:solidFill>
              </a:defRPr>
            </a:pPr>
            <a:r>
              <a:t>No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Pocket TTS = $0 cost + voice cloning + runs on CPU = best for interview 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Integration: VLSI Interview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Current TTS Pipeline (main.py)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Primary:   Mistral Voxtral (API, voice cloning)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9280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Fallback:  AWS Polly Amy neural (API)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854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780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Cost: ~$0.03 per interview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706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Latency: 1-2s (network dependent)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Dependency: requires internet + API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486400" cy="22860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New TTS Pipeline (Pocket TTS integrated)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Primary:   Pocket TTS (local, CPU, FREE)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531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Fallback 1: Mistral Voxtral (API)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457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Fallback 2: AWS Polly (API)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383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309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Cost: $0.00 per interview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Latency: ~200ms (no network!)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161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Works fully offline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097280"/>
            <a:ext cx="5029200" cy="27432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23443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</a:defRPr>
            </a:pPr>
            <a:r>
              <a:t>How It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6002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1. On first 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9280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   - Downloads Pocket TTS model (~100M)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18541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   - Clones voice from ranjitha.mp3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4780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   - Exports ranjitha_voice.safetensors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7706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063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2. On subsequent runs: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5584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   - Loads .safetensors instantly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6484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   - Generates audio on CPU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94106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   - Returns base64 WAV to frontend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14800"/>
            <a:ext cx="5029200" cy="182880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251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</a:defRPr>
            </a:pPr>
            <a:r>
              <a:t>Frontend Changes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617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Added detectAudioType() function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9103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Auto-detects WAV vs MP3 format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2029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Both index.html and voice_agent_ui.html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4955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  Seamless - no user-facing changes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</a:defRPr>
            </a:pPr>
            <a:r>
              <a:t>Recommendation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8229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</a:defRPr>
            </a:pPr>
            <a:r>
              <a:t>Voice Cloning (local)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Pocket TTS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657600" cy="8229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</a:defRPr>
            </a:pPr>
            <a:r>
              <a:t>Extreme Size (IoT)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Kitten TTS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97280"/>
            <a:ext cx="3657600" cy="8229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143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</a:defRPr>
            </a:pPr>
            <a:r>
              <a:t>Multilingual (10 langs)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Qwen3-TTS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3657600" cy="8229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</a:defRPr>
            </a:pPr>
            <a:r>
              <a:t>Zero Hallucinations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TADA TTS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103120"/>
            <a:ext cx="3657600" cy="8229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</a:defRPr>
            </a:pPr>
            <a:r>
              <a:t>Real-time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Neu TTS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103120"/>
            <a:ext cx="3657600" cy="8229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</a:defRPr>
            </a:pPr>
            <a:r>
              <a:t>Long-form (90 min)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VibeVoice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08960"/>
            <a:ext cx="3657600" cy="8229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54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</a:defRPr>
            </a:pPr>
            <a:r>
              <a:t>Best Quality (30 langs)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VoxCPM2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108960"/>
            <a:ext cx="3657600" cy="8229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154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</a:defRPr>
            </a:pPr>
            <a:r>
              <a:t>Cheapest Cloud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Qwen3 (AIML)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108960"/>
            <a:ext cx="3657600" cy="822960"/>
          </a:xfrm>
          <a:prstGeom prst="roundRect">
            <a:avLst/>
          </a:prstGeom>
          <a:solidFill>
            <a:srgbClr val="25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154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</a:defRPr>
            </a:pPr>
            <a:r>
              <a:t>Interview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Pocket TTS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2E8F0"/>
                </a:solidFill>
              </a:defRPr>
            </a:pPr>
            <a:r>
              <a:t>For the VLSI Interview Agent: Pocket TTS is integrated as primary TTS.</a:t>
            </a:r>
            <a:br/>
            <a:r>
              <a:t>Zero cost, offline, voice cloning, ~200ms latency, with Mistral + Polly as fallbacks.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